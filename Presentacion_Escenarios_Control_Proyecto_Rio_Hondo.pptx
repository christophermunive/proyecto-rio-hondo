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6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274320"/>
            <a:ext cx="2743200" cy="1188720"/>
          </a:xfrm>
          <a:prstGeom prst="ellipse">
            <a:avLst/>
          </a:prstGeom>
          <a:solidFill>
            <a:srgbClr val="DB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5943600"/>
            <a:ext cx="2011680" cy="1005840"/>
          </a:xfrm>
          <a:prstGeom prst="ellipse">
            <a:avLst/>
          </a:prstGeom>
          <a:solidFill>
            <a:srgbClr val="EE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Wave 4"/>
          <p:cNvSpPr/>
          <p:nvPr/>
        </p:nvSpPr>
        <p:spPr>
          <a:xfrm>
            <a:off x="274320" y="4251960"/>
            <a:ext cx="11887200" cy="685800"/>
          </a:xfrm>
          <a:prstGeom prst="wave">
            <a:avLst/>
          </a:prstGeom>
          <a:solidFill>
            <a:srgbClr val="DB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Wave 5"/>
          <p:cNvSpPr/>
          <p:nvPr/>
        </p:nvSpPr>
        <p:spPr>
          <a:xfrm>
            <a:off x="274320" y="4617720"/>
            <a:ext cx="11887200" cy="685800"/>
          </a:xfrm>
          <a:prstGeom prst="wave">
            <a:avLst/>
          </a:prstGeom>
          <a:solidFill>
            <a:srgbClr val="36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ave 6"/>
          <p:cNvSpPr/>
          <p:nvPr/>
        </p:nvSpPr>
        <p:spPr>
          <a:xfrm>
            <a:off x="274320" y="4983480"/>
            <a:ext cx="11887200" cy="685800"/>
          </a:xfrm>
          <a:prstGeom prst="wave">
            <a:avLst/>
          </a:prstGeom>
          <a:solidFill>
            <a:srgbClr val="2B7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960120"/>
            <a:ext cx="987552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900" b="1">
                <a:solidFill>
                  <a:srgbClr val="183A4D"/>
                </a:solidFill>
              </a:defRPr>
            </a:pPr>
            <a:r>
              <a:t>POSIBLES ESCENARIOS Y FASE DE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645920"/>
            <a:ext cx="9326880" cy="731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1">
                <a:solidFill>
                  <a:srgbClr val="2B7A9D"/>
                </a:solidFill>
              </a:defRPr>
            </a:pPr>
            <a:r>
              <a:t>Proyecto: Programa comunitario de manejo responsable de residuos y limpieza del Río Hondo en El Molinito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502920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0">
                <a:solidFill>
                  <a:srgbClr val="646E73"/>
                </a:solidFill>
              </a:defRPr>
            </a:pPr>
            <a:r>
              <a:t>Módulo 22 · Proyecto comunitario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82112"/>
            <a:ext cx="502920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1">
                <a:solidFill>
                  <a:srgbClr val="283237"/>
                </a:solidFill>
              </a:defRPr>
            </a:pPr>
            <a:r>
              <a:t>Christopher Munive De Haro · Grupo G64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6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274320"/>
            <a:ext cx="2743200" cy="1188720"/>
          </a:xfrm>
          <a:prstGeom prst="ellipse">
            <a:avLst/>
          </a:prstGeom>
          <a:solidFill>
            <a:srgbClr val="DB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5943600"/>
            <a:ext cx="2011680" cy="1005840"/>
          </a:xfrm>
          <a:prstGeom prst="ellipse">
            <a:avLst/>
          </a:prstGeom>
          <a:solidFill>
            <a:srgbClr val="EE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A4D"/>
                </a:solidFill>
              </a:defRPr>
            </a:pPr>
            <a:r>
              <a:t>Etapas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3"/>
                </a:solidFill>
              </a:defRPr>
            </a:pPr>
            <a:r>
              <a:t>Base para analizar los escenarios y establecer el control</a:t>
            </a:r>
          </a:p>
        </p:txBody>
      </p:sp>
      <p:sp>
        <p:nvSpPr>
          <p:cNvPr id="7" name="Oval 6"/>
          <p:cNvSpPr/>
          <p:nvPr/>
        </p:nvSpPr>
        <p:spPr>
          <a:xfrm>
            <a:off x="1234440" y="1828800"/>
            <a:ext cx="640080" cy="640080"/>
          </a:xfrm>
          <a:prstGeom prst="ellipse">
            <a:avLst/>
          </a:prstGeom>
          <a:solidFill>
            <a:srgbClr val="36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938528"/>
            <a:ext cx="64008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1828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500" b="1">
                <a:solidFill>
                  <a:srgbClr val="183A4D"/>
                </a:solidFill>
              </a:defRPr>
            </a:pPr>
            <a:r>
              <a:t>Diagnóstico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27248"/>
            <a:ext cx="1828800" cy="1188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50" b="0">
                <a:solidFill>
                  <a:srgbClr val="283237"/>
                </a:solidFill>
              </a:defRPr>
            </a:pPr>
            <a:r>
              <a:t>Identificar puntos críticos y documentar condiciones.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286000" y="1993392"/>
            <a:ext cx="685800" cy="320040"/>
          </a:xfrm>
          <a:prstGeom prst="rightArrow">
            <a:avLst/>
          </a:prstGeom>
          <a:solidFill>
            <a:srgbClr val="DB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02151" y="1828800"/>
            <a:ext cx="640080" cy="640080"/>
          </a:xfrm>
          <a:prstGeom prst="ellipse">
            <a:avLst/>
          </a:prstGeom>
          <a:solidFill>
            <a:srgbClr val="36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02151" y="1938528"/>
            <a:ext cx="64008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7791" y="2697480"/>
            <a:ext cx="1828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500" b="1">
                <a:solidFill>
                  <a:srgbClr val="183A4D"/>
                </a:solidFill>
              </a:defRPr>
            </a:pPr>
            <a:r>
              <a:t>Organización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07791" y="3127248"/>
            <a:ext cx="1828800" cy="1188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50" b="0">
                <a:solidFill>
                  <a:srgbClr val="283237"/>
                </a:solidFill>
              </a:defRPr>
            </a:pPr>
            <a:r>
              <a:t>Formar comité vecinal y coordinar autoridades.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553712" y="1993392"/>
            <a:ext cx="685800" cy="320040"/>
          </a:xfrm>
          <a:prstGeom prst="rightArrow">
            <a:avLst/>
          </a:prstGeom>
          <a:solidFill>
            <a:srgbClr val="DB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69864" y="1828800"/>
            <a:ext cx="640080" cy="640080"/>
          </a:xfrm>
          <a:prstGeom prst="ellipse">
            <a:avLst/>
          </a:prstGeom>
          <a:solidFill>
            <a:srgbClr val="36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9864" y="1938528"/>
            <a:ext cx="64008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5504" y="2697480"/>
            <a:ext cx="1828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500" b="1">
                <a:solidFill>
                  <a:srgbClr val="183A4D"/>
                </a:solidFill>
              </a:defRPr>
            </a:pPr>
            <a:r>
              <a:t>Educación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5504" y="3127248"/>
            <a:ext cx="1828800" cy="1188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50" b="0">
                <a:solidFill>
                  <a:srgbClr val="283237"/>
                </a:solidFill>
              </a:defRPr>
            </a:pPr>
            <a:r>
              <a:t>Promover separación y manejo responsable.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821424" y="1993392"/>
            <a:ext cx="685800" cy="320040"/>
          </a:xfrm>
          <a:prstGeom prst="rightArrow">
            <a:avLst/>
          </a:prstGeom>
          <a:solidFill>
            <a:srgbClr val="DB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37575" y="1828800"/>
            <a:ext cx="640080" cy="640080"/>
          </a:xfrm>
          <a:prstGeom prst="ellipse">
            <a:avLst/>
          </a:prstGeom>
          <a:solidFill>
            <a:srgbClr val="36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37575" y="1938528"/>
            <a:ext cx="64008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3215" y="2697480"/>
            <a:ext cx="1828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500" b="1">
                <a:solidFill>
                  <a:srgbClr val="183A4D"/>
                </a:solidFill>
              </a:defRPr>
            </a:pPr>
            <a:r>
              <a:t>Intervención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3215" y="3127248"/>
            <a:ext cx="1828800" cy="1188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50" b="0">
                <a:solidFill>
                  <a:srgbClr val="283237"/>
                </a:solidFill>
              </a:defRPr>
            </a:pPr>
            <a:r>
              <a:t>Realizar jornadas de limpieza y disposición.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089136" y="1993392"/>
            <a:ext cx="685800" cy="320040"/>
          </a:xfrm>
          <a:prstGeom prst="rightArrow">
            <a:avLst/>
          </a:prstGeom>
          <a:solidFill>
            <a:srgbClr val="DB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305288" y="1828800"/>
            <a:ext cx="640080" cy="640080"/>
          </a:xfrm>
          <a:prstGeom prst="ellipse">
            <a:avLst/>
          </a:prstGeom>
          <a:solidFill>
            <a:srgbClr val="2B7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05288" y="1938528"/>
            <a:ext cx="64008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0928" y="2697480"/>
            <a:ext cx="1828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500" b="1">
                <a:solidFill>
                  <a:srgbClr val="183A4D"/>
                </a:solidFill>
              </a:defRPr>
            </a:pPr>
            <a:r>
              <a:t>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10928" y="3127248"/>
            <a:ext cx="1828800" cy="1188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150" b="0">
                <a:solidFill>
                  <a:srgbClr val="283237"/>
                </a:solidFill>
              </a:defRPr>
            </a:pPr>
            <a:r>
              <a:t>Vigilar, medir resultados y aplicar mejoras.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074920"/>
            <a:ext cx="10607040" cy="685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600" b="1">
                <a:solidFill>
                  <a:srgbClr val="2B7A9D"/>
                </a:solidFill>
              </a:defRPr>
            </a:pPr>
            <a:r>
              <a:t>El proyecto se desarrolla de forma progresiva: primero se organiza y previene; después se interviene y finalmente se evalúa para mantener la mejora.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6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274320"/>
            <a:ext cx="2743200" cy="1188720"/>
          </a:xfrm>
          <a:prstGeom prst="ellipse">
            <a:avLst/>
          </a:prstGeom>
          <a:solidFill>
            <a:srgbClr val="DB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5943600"/>
            <a:ext cx="2011680" cy="1005840"/>
          </a:xfrm>
          <a:prstGeom prst="ellipse">
            <a:avLst/>
          </a:prstGeom>
          <a:solidFill>
            <a:srgbClr val="EE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A4D"/>
                </a:solidFill>
              </a:defRPr>
            </a:pPr>
            <a:r>
              <a:t>El mejor escenario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3"/>
                </a:solidFill>
              </a:defRPr>
            </a:pPr>
            <a:r>
              <a:t>¿Qué ocurriría si el proyecto se desarrolla en condiciones óptimas?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3474720" cy="1828800"/>
          </a:xfrm>
          <a:prstGeom prst="roundRect">
            <a:avLst/>
          </a:prstGeom>
          <a:solidFill>
            <a:srgbClr val="EEF6F5"/>
          </a:solidFill>
          <a:ln>
            <a:solidFill>
              <a:srgbClr val="DB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63040"/>
            <a:ext cx="91440" cy="1828800"/>
          </a:xfrm>
          <a:prstGeom prst="rect">
            <a:avLst/>
          </a:prstGeom>
          <a:solidFill>
            <a:srgbClr val="5F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627632"/>
            <a:ext cx="50292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200" b="1">
                <a:solidFill>
                  <a:srgbClr val="5F9B5C"/>
                </a:solidFill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1627632"/>
            <a:ext cx="256032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1">
                <a:solidFill>
                  <a:srgbClr val="183A4D"/>
                </a:solidFill>
              </a:defRPr>
            </a:pPr>
            <a:r>
              <a:t>Participación constante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66544"/>
            <a:ext cx="3017520" cy="10789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50" b="0">
                <a:solidFill>
                  <a:srgbClr val="283237"/>
                </a:solidFill>
              </a:defRPr>
            </a:pPr>
            <a:r>
              <a:t>Vecinos, voluntarios, escuelas y autoridades colaboran de forma sostenida.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63040"/>
            <a:ext cx="3474720" cy="1828800"/>
          </a:xfrm>
          <a:prstGeom prst="roundRect">
            <a:avLst/>
          </a:prstGeom>
          <a:solidFill>
            <a:srgbClr val="EEF6F5"/>
          </a:solidFill>
          <a:ln>
            <a:solidFill>
              <a:srgbClr val="DB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63040"/>
            <a:ext cx="91440" cy="1828800"/>
          </a:xfrm>
          <a:prstGeom prst="rect">
            <a:avLst/>
          </a:prstGeom>
          <a:solidFill>
            <a:srgbClr val="5F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627632"/>
            <a:ext cx="50292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200" b="1">
                <a:solidFill>
                  <a:srgbClr val="5F9B5C"/>
                </a:solidFill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1627632"/>
            <a:ext cx="256032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1">
                <a:solidFill>
                  <a:srgbClr val="183A4D"/>
                </a:solidFill>
              </a:defRPr>
            </a:pPr>
            <a:r>
              <a:t>Cumplimiento del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066544"/>
            <a:ext cx="3017520" cy="10789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50" b="0">
                <a:solidFill>
                  <a:srgbClr val="283237"/>
                </a:solidFill>
              </a:defRPr>
            </a:pPr>
            <a:r>
              <a:t>Las actividades se realizan conforme al cronograma y existen recursos suficientes.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463040"/>
            <a:ext cx="3474720" cy="1828800"/>
          </a:xfrm>
          <a:prstGeom prst="roundRect">
            <a:avLst/>
          </a:prstGeom>
          <a:solidFill>
            <a:srgbClr val="EEF6F5"/>
          </a:solidFill>
          <a:ln>
            <a:solidFill>
              <a:srgbClr val="DB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463040"/>
            <a:ext cx="91440" cy="1828800"/>
          </a:xfrm>
          <a:prstGeom prst="rect">
            <a:avLst/>
          </a:prstGeom>
          <a:solidFill>
            <a:srgbClr val="5F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627632"/>
            <a:ext cx="50292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200" b="1">
                <a:solidFill>
                  <a:srgbClr val="5F9B5C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9952" y="1627632"/>
            <a:ext cx="256032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1">
                <a:solidFill>
                  <a:srgbClr val="183A4D"/>
                </a:solidFill>
              </a:defRPr>
            </a:pPr>
            <a:r>
              <a:t>Resultados visibles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066544"/>
            <a:ext cx="3017520" cy="10789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50" b="0">
                <a:solidFill>
                  <a:srgbClr val="283237"/>
                </a:solidFill>
              </a:defRPr>
            </a:pPr>
            <a:r>
              <a:t>Disminuyen los residuos en puntos críticos y mejora la prevención de obstrucciones.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977639"/>
            <a:ext cx="100584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183A4D"/>
                </a:solidFill>
              </a:defRPr>
            </a:pPr>
            <a:r>
              <a:t>Resultado esperado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572000"/>
            <a:ext cx="9784080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0">
                <a:solidFill>
                  <a:srgbClr val="283237"/>
                </a:solidFill>
              </a:defRPr>
            </a:pPr>
            <a:r>
              <a:t>Una comunidad mejor organizada y sensibilizada, con jornadas periódicas de limpieza, vigilancia permanente y reducción progresiva de residuos en las zonas intervenidas.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6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274320"/>
            <a:ext cx="2743200" cy="1188720"/>
          </a:xfrm>
          <a:prstGeom prst="ellipse">
            <a:avLst/>
          </a:prstGeom>
          <a:solidFill>
            <a:srgbClr val="DB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5943600"/>
            <a:ext cx="2011680" cy="1005840"/>
          </a:xfrm>
          <a:prstGeom prst="ellipse">
            <a:avLst/>
          </a:prstGeom>
          <a:solidFill>
            <a:srgbClr val="EE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A4D"/>
                </a:solidFill>
              </a:defRPr>
            </a:pPr>
            <a:r>
              <a:t>¿Cómo mantener las acciones exitosas?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3"/>
                </a:solidFill>
              </a:defRPr>
            </a:pPr>
            <a:r>
              <a:t>Control preventivo para conservar el mejor escenario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337560" cy="1737360"/>
          </a:xfrm>
          <a:prstGeom prst="roundRect">
            <a:avLst/>
          </a:prstGeom>
          <a:solidFill>
            <a:srgbClr val="EEF6F5"/>
          </a:solidFill>
          <a:ln>
            <a:solidFill>
              <a:srgbClr val="DB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91440" cy="1737360"/>
          </a:xfrm>
          <a:prstGeom prst="rect">
            <a:avLst/>
          </a:prstGeom>
          <a:solidFill>
            <a:srgbClr val="36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581912"/>
            <a:ext cx="50292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200" b="1">
                <a:solidFill>
                  <a:srgbClr val="369997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1581912"/>
            <a:ext cx="242316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1">
                <a:solidFill>
                  <a:srgbClr val="183A4D"/>
                </a:solidFill>
              </a:defRPr>
            </a:pPr>
            <a:r>
              <a:t>Cronograma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20824"/>
            <a:ext cx="2880360" cy="9875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50" b="0">
                <a:solidFill>
                  <a:srgbClr val="283237"/>
                </a:solidFill>
              </a:defRPr>
            </a:pPr>
            <a:r>
              <a:t>Revisar semanalmente actividades realizadas y pendientes.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17320"/>
            <a:ext cx="3337560" cy="1737360"/>
          </a:xfrm>
          <a:prstGeom prst="roundRect">
            <a:avLst/>
          </a:prstGeom>
          <a:solidFill>
            <a:srgbClr val="EEF6F5"/>
          </a:solidFill>
          <a:ln>
            <a:solidFill>
              <a:srgbClr val="DB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17320"/>
            <a:ext cx="91440" cy="1737360"/>
          </a:xfrm>
          <a:prstGeom prst="rect">
            <a:avLst/>
          </a:prstGeom>
          <a:solidFill>
            <a:srgbClr val="36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581912"/>
            <a:ext cx="50292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200" b="1">
                <a:solidFill>
                  <a:srgbClr val="369997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1581912"/>
            <a:ext cx="242316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1">
                <a:solidFill>
                  <a:srgbClr val="183A4D"/>
                </a:solidFill>
              </a:defRPr>
            </a:pPr>
            <a:r>
              <a:t>Comité activo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020824"/>
            <a:ext cx="2880360" cy="9875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50" b="0">
                <a:solidFill>
                  <a:srgbClr val="283237"/>
                </a:solidFill>
              </a:defRPr>
            </a:pPr>
            <a:r>
              <a:t>Mantener responsables, comunicación y seguimiento.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1417320"/>
            <a:ext cx="3337560" cy="1737360"/>
          </a:xfrm>
          <a:prstGeom prst="roundRect">
            <a:avLst/>
          </a:prstGeom>
          <a:solidFill>
            <a:srgbClr val="EEF6F5"/>
          </a:solidFill>
          <a:ln>
            <a:solidFill>
              <a:srgbClr val="DB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19" y="1417320"/>
            <a:ext cx="91440" cy="1737360"/>
          </a:xfrm>
          <a:prstGeom prst="rect">
            <a:avLst/>
          </a:prstGeom>
          <a:solidFill>
            <a:srgbClr val="36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581912"/>
            <a:ext cx="50292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200" b="1">
                <a:solidFill>
                  <a:srgbClr val="369997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9951" y="1581912"/>
            <a:ext cx="242316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1">
                <a:solidFill>
                  <a:srgbClr val="183A4D"/>
                </a:solidFill>
              </a:defRPr>
            </a:pPr>
            <a:r>
              <a:t>Educación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2020824"/>
            <a:ext cx="2880360" cy="9875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50" b="0">
                <a:solidFill>
                  <a:srgbClr val="283237"/>
                </a:solidFill>
              </a:defRPr>
            </a:pPr>
            <a:r>
              <a:t>Continuar campañas de separación, reciclaje y prevención.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566160"/>
            <a:ext cx="3337560" cy="1737360"/>
          </a:xfrm>
          <a:prstGeom prst="roundRect">
            <a:avLst/>
          </a:prstGeom>
          <a:solidFill>
            <a:srgbClr val="EEF6F5"/>
          </a:solidFill>
          <a:ln>
            <a:solidFill>
              <a:srgbClr val="DB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3566160"/>
            <a:ext cx="91440" cy="1737360"/>
          </a:xfrm>
          <a:prstGeom prst="rect">
            <a:avLst/>
          </a:prstGeom>
          <a:solidFill>
            <a:srgbClr val="36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3730752"/>
            <a:ext cx="50292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200" b="1">
                <a:solidFill>
                  <a:srgbClr val="369997"/>
                </a:solidFill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312" y="3730752"/>
            <a:ext cx="242316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1">
                <a:solidFill>
                  <a:srgbClr val="183A4D"/>
                </a:solidFill>
              </a:defRPr>
            </a:pPr>
            <a:r>
              <a:t>Evidencias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169664"/>
            <a:ext cx="2880360" cy="9875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50" b="0">
                <a:solidFill>
                  <a:srgbClr val="283237"/>
                </a:solidFill>
              </a:defRPr>
            </a:pPr>
            <a:r>
              <a:t>Registrar fotografías, asistencia, residuos y puntos atendidos.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3566160"/>
            <a:ext cx="3337560" cy="1737360"/>
          </a:xfrm>
          <a:prstGeom prst="roundRect">
            <a:avLst/>
          </a:prstGeom>
          <a:solidFill>
            <a:srgbClr val="EEF6F5"/>
          </a:solidFill>
          <a:ln>
            <a:solidFill>
              <a:srgbClr val="DB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3566160"/>
            <a:ext cx="91440" cy="1737360"/>
          </a:xfrm>
          <a:prstGeom prst="rect">
            <a:avLst/>
          </a:prstGeom>
          <a:solidFill>
            <a:srgbClr val="36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44568" y="3730752"/>
            <a:ext cx="50292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200" b="1">
                <a:solidFill>
                  <a:srgbClr val="369997"/>
                </a:solidFill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56632" y="3730752"/>
            <a:ext cx="242316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1">
                <a:solidFill>
                  <a:srgbClr val="183A4D"/>
                </a:solidFill>
              </a:defRPr>
            </a:pPr>
            <a:r>
              <a:t>Coordinación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169664"/>
            <a:ext cx="2880360" cy="9875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50" b="0">
                <a:solidFill>
                  <a:srgbClr val="283237"/>
                </a:solidFill>
              </a:defRPr>
            </a:pPr>
            <a:r>
              <a:t>Mantener comunicación con servicios municipales y autoridades.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19" y="3566160"/>
            <a:ext cx="3337560" cy="1737360"/>
          </a:xfrm>
          <a:prstGeom prst="roundRect">
            <a:avLst/>
          </a:prstGeom>
          <a:solidFill>
            <a:srgbClr val="EEF6F5"/>
          </a:solidFill>
          <a:ln>
            <a:solidFill>
              <a:srgbClr val="DB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19" y="3566160"/>
            <a:ext cx="91440" cy="1737360"/>
          </a:xfrm>
          <a:prstGeom prst="rect">
            <a:avLst/>
          </a:prstGeom>
          <a:solidFill>
            <a:srgbClr val="36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7888" y="3730752"/>
            <a:ext cx="50292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200" b="1">
                <a:solidFill>
                  <a:srgbClr val="369997"/>
                </a:solidFill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59951" y="3730752"/>
            <a:ext cx="242316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1">
                <a:solidFill>
                  <a:srgbClr val="183A4D"/>
                </a:solidFill>
              </a:defRPr>
            </a:pPr>
            <a:r>
              <a:t>Mejora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19" y="4169664"/>
            <a:ext cx="2880360" cy="9875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50" b="0">
                <a:solidFill>
                  <a:srgbClr val="283237"/>
                </a:solidFill>
              </a:defRPr>
            </a:pPr>
            <a:r>
              <a:t>Revisar indicadores y corregir desviaciones oportunamente.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6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274320"/>
            <a:ext cx="2743200" cy="1188720"/>
          </a:xfrm>
          <a:prstGeom prst="ellipse">
            <a:avLst/>
          </a:prstGeom>
          <a:solidFill>
            <a:srgbClr val="DB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5943600"/>
            <a:ext cx="2011680" cy="1005840"/>
          </a:xfrm>
          <a:prstGeom prst="ellipse">
            <a:avLst/>
          </a:prstGeom>
          <a:solidFill>
            <a:srgbClr val="EE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A4D"/>
                </a:solidFill>
              </a:defRPr>
            </a:pPr>
            <a:r>
              <a:t>El peor escenario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3"/>
                </a:solidFill>
              </a:defRPr>
            </a:pPr>
            <a:r>
              <a:t>Riesgos que podrían impedir el cumplimiento de las metas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474720" cy="1874519"/>
          </a:xfrm>
          <a:prstGeom prst="roundRect">
            <a:avLst/>
          </a:prstGeom>
          <a:solidFill>
            <a:srgbClr val="EEF6F5"/>
          </a:solidFill>
          <a:ln>
            <a:solidFill>
              <a:srgbClr val="DB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91440" cy="1874519"/>
          </a:xfrm>
          <a:prstGeom prst="rect">
            <a:avLst/>
          </a:prstGeom>
          <a:solidFill>
            <a:srgbClr val="BE4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581912"/>
            <a:ext cx="50292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200" b="1">
                <a:solidFill>
                  <a:srgbClr val="BE4941"/>
                </a:solidFill>
              </a:defRPr>
            </a:pPr>
            <a: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1581912"/>
            <a:ext cx="256032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1">
                <a:solidFill>
                  <a:srgbClr val="183A4D"/>
                </a:solidFill>
              </a:defRPr>
            </a:pPr>
            <a:r>
              <a:t>Baja participación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20824"/>
            <a:ext cx="3017520" cy="11247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50" b="0">
                <a:solidFill>
                  <a:srgbClr val="283237"/>
                </a:solidFill>
              </a:defRPr>
            </a:pPr>
            <a:r>
              <a:t>Pocos vecinos o voluntarios se integran y las actividades pierden continuidad.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17320"/>
            <a:ext cx="3474720" cy="1874519"/>
          </a:xfrm>
          <a:prstGeom prst="roundRect">
            <a:avLst/>
          </a:prstGeom>
          <a:solidFill>
            <a:srgbClr val="EEF6F5"/>
          </a:solidFill>
          <a:ln>
            <a:solidFill>
              <a:srgbClr val="DB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17320"/>
            <a:ext cx="91440" cy="1874519"/>
          </a:xfrm>
          <a:prstGeom prst="rect">
            <a:avLst/>
          </a:prstGeom>
          <a:solidFill>
            <a:srgbClr val="BE4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581912"/>
            <a:ext cx="50292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200" b="1">
                <a:solidFill>
                  <a:srgbClr val="BE4941"/>
                </a:solidFill>
              </a:defRPr>
            </a:pPr>
            <a: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1581912"/>
            <a:ext cx="256032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1">
                <a:solidFill>
                  <a:srgbClr val="183A4D"/>
                </a:solidFill>
              </a:defRPr>
            </a:pPr>
            <a:r>
              <a:t>Falta de apoyo o recursos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020824"/>
            <a:ext cx="3017520" cy="11247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50" b="0">
                <a:solidFill>
                  <a:srgbClr val="283237"/>
                </a:solidFill>
              </a:defRPr>
            </a:pPr>
            <a:r>
              <a:t>No hay suficientes materiales, transporte, equipo o respuesta institucional.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417320"/>
            <a:ext cx="3474720" cy="1874519"/>
          </a:xfrm>
          <a:prstGeom prst="roundRect">
            <a:avLst/>
          </a:prstGeom>
          <a:solidFill>
            <a:srgbClr val="EEF6F5"/>
          </a:solidFill>
          <a:ln>
            <a:solidFill>
              <a:srgbClr val="DB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417320"/>
            <a:ext cx="91440" cy="1874519"/>
          </a:xfrm>
          <a:prstGeom prst="rect">
            <a:avLst/>
          </a:prstGeom>
          <a:solidFill>
            <a:srgbClr val="BE4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581912"/>
            <a:ext cx="50292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200" b="1">
                <a:solidFill>
                  <a:srgbClr val="BE4941"/>
                </a:solidFill>
              </a:defRPr>
            </a:pPr>
            <a: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9952" y="1581912"/>
            <a:ext cx="256032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1">
                <a:solidFill>
                  <a:srgbClr val="183A4D"/>
                </a:solidFill>
              </a:defRPr>
            </a:pPr>
            <a:r>
              <a:t>Retrasos y reincidencia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020824"/>
            <a:ext cx="3017520" cy="11247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50" b="0">
                <a:solidFill>
                  <a:srgbClr val="283237"/>
                </a:solidFill>
              </a:defRPr>
            </a:pPr>
            <a:r>
              <a:t>Se incumple el cronograma y vuelven a acumularse residuos en puntos críticos.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069080"/>
            <a:ext cx="106070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BE4941"/>
                </a:solidFill>
              </a:defRPr>
            </a:pPr>
            <a:r>
              <a:t>Consecuencia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617720"/>
            <a:ext cx="10058400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0">
                <a:solidFill>
                  <a:srgbClr val="283237"/>
                </a:solidFill>
              </a:defRPr>
            </a:pPr>
            <a:r>
              <a:t>Las metas no se cumplen, el proyecto pierde continuidad y disminuye su capacidad para prevenir contaminación, obstrucciones e inundaciones.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6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274320"/>
            <a:ext cx="2743200" cy="1188720"/>
          </a:xfrm>
          <a:prstGeom prst="ellipse">
            <a:avLst/>
          </a:prstGeom>
          <a:solidFill>
            <a:srgbClr val="DB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5943600"/>
            <a:ext cx="2011680" cy="1005840"/>
          </a:xfrm>
          <a:prstGeom prst="ellipse">
            <a:avLst/>
          </a:prstGeom>
          <a:solidFill>
            <a:srgbClr val="EE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A4D"/>
                </a:solidFill>
              </a:defRPr>
            </a:pPr>
            <a:r>
              <a:t>Solución de problemáticas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3"/>
                </a:solidFill>
              </a:defRPr>
            </a:pPr>
            <a:r>
              <a:t>Acciones correctivas ante el peor escenario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371600"/>
            <a:ext cx="502920" cy="502920"/>
          </a:xfrm>
          <a:prstGeom prst="ellipse">
            <a:avLst/>
          </a:prstGeom>
          <a:solidFill>
            <a:srgbClr val="2B7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53896"/>
            <a:ext cx="50292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371600"/>
            <a:ext cx="1828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1">
                <a:solidFill>
                  <a:srgbClr val="183A4D"/>
                </a:solidFill>
              </a:defRPr>
            </a:pPr>
            <a:r>
              <a:t>1. Detectar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371600"/>
            <a:ext cx="786384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0">
                <a:solidFill>
                  <a:srgbClr val="283237"/>
                </a:solidFill>
              </a:defRPr>
            </a:pPr>
            <a:r>
              <a:t>Identificar la causa real del retraso o incumplimiento.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157984"/>
            <a:ext cx="502920" cy="502920"/>
          </a:xfrm>
          <a:prstGeom prst="ellipse">
            <a:avLst/>
          </a:prstGeom>
          <a:solidFill>
            <a:srgbClr val="2B7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240279"/>
            <a:ext cx="50292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157984"/>
            <a:ext cx="1828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1">
                <a:solidFill>
                  <a:srgbClr val="183A4D"/>
                </a:solidFill>
              </a:defRPr>
            </a:pPr>
            <a:r>
              <a:t>2. Priorizar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157984"/>
            <a:ext cx="786384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0">
                <a:solidFill>
                  <a:srgbClr val="283237"/>
                </a:solidFill>
              </a:defRPr>
            </a:pPr>
            <a:r>
              <a:t>Concentrar recursos en los puntos y actividades más críticos.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2944368"/>
            <a:ext cx="502920" cy="502920"/>
          </a:xfrm>
          <a:prstGeom prst="ellipse">
            <a:avLst/>
          </a:prstGeom>
          <a:solidFill>
            <a:srgbClr val="2B7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026663"/>
            <a:ext cx="50292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944368"/>
            <a:ext cx="1828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1">
                <a:solidFill>
                  <a:srgbClr val="183A4D"/>
                </a:solidFill>
              </a:defRPr>
            </a:pPr>
            <a:r>
              <a:t>3. Reorganizar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2944368"/>
            <a:ext cx="786384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0">
                <a:solidFill>
                  <a:srgbClr val="283237"/>
                </a:solidFill>
              </a:defRPr>
            </a:pPr>
            <a:r>
              <a:t>Redistribuir responsabilidades y ajustar fechas del cronograma.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3730752"/>
            <a:ext cx="502920" cy="502920"/>
          </a:xfrm>
          <a:prstGeom prst="ellipse">
            <a:avLst/>
          </a:prstGeom>
          <a:solidFill>
            <a:srgbClr val="2B7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813048"/>
            <a:ext cx="50292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730752"/>
            <a:ext cx="1828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1">
                <a:solidFill>
                  <a:srgbClr val="183A4D"/>
                </a:solidFill>
              </a:defRPr>
            </a:pPr>
            <a:r>
              <a:t>4. Reforzar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3730752"/>
            <a:ext cx="786384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0">
                <a:solidFill>
                  <a:srgbClr val="283237"/>
                </a:solidFill>
              </a:defRPr>
            </a:pPr>
            <a:r>
              <a:t>Convocar nuevos voluntarios y ampliar la difusión comunitaria.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4517136"/>
            <a:ext cx="502920" cy="502920"/>
          </a:xfrm>
          <a:prstGeom prst="ellipse">
            <a:avLst/>
          </a:prstGeom>
          <a:solidFill>
            <a:srgbClr val="2B7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599431"/>
            <a:ext cx="50292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517136"/>
            <a:ext cx="1828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1">
                <a:solidFill>
                  <a:srgbClr val="183A4D"/>
                </a:solidFill>
              </a:defRPr>
            </a:pPr>
            <a:r>
              <a:t>5. Gestionar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4517136"/>
            <a:ext cx="786384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0">
                <a:solidFill>
                  <a:srgbClr val="283237"/>
                </a:solidFill>
              </a:defRPr>
            </a:pPr>
            <a:r>
              <a:t>Solicitar apoyo, materiales o colaboración a autoridades y aliados.</a:t>
            </a:r>
          </a:p>
        </p:txBody>
      </p:sp>
      <p:sp>
        <p:nvSpPr>
          <p:cNvPr id="27" name="Oval 26"/>
          <p:cNvSpPr/>
          <p:nvPr/>
        </p:nvSpPr>
        <p:spPr>
          <a:xfrm>
            <a:off x="822960" y="5303520"/>
            <a:ext cx="502920" cy="502920"/>
          </a:xfrm>
          <a:prstGeom prst="ellipse">
            <a:avLst/>
          </a:prstGeom>
          <a:solidFill>
            <a:srgbClr val="2B7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385816"/>
            <a:ext cx="50292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5303520"/>
            <a:ext cx="18288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400" b="1">
                <a:solidFill>
                  <a:srgbClr val="183A4D"/>
                </a:solidFill>
              </a:defRPr>
            </a:pPr>
            <a:r>
              <a:t>6. Verificar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54680" y="5303520"/>
            <a:ext cx="786384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0">
                <a:solidFill>
                  <a:srgbClr val="283237"/>
                </a:solidFill>
              </a:defRPr>
            </a:pPr>
            <a:r>
              <a:t>Medir si la acción correctiva recupera el avance esperado.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6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274320"/>
            <a:ext cx="2743200" cy="1188720"/>
          </a:xfrm>
          <a:prstGeom prst="ellipse">
            <a:avLst/>
          </a:prstGeom>
          <a:solidFill>
            <a:srgbClr val="DB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5943600"/>
            <a:ext cx="2011680" cy="1005840"/>
          </a:xfrm>
          <a:prstGeom prst="ellipse">
            <a:avLst/>
          </a:prstGeom>
          <a:solidFill>
            <a:srgbClr val="EE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A4D"/>
                </a:solidFill>
              </a:defRPr>
            </a:pPr>
            <a:r>
              <a:t>Estándares para la fase de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3"/>
                </a:solidFill>
              </a:defRPr>
            </a:pPr>
            <a:r>
              <a:t>Indicadores para saber si el proyecto avanza conforme a lo planeado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3474720" cy="1024128"/>
          </a:xfrm>
          <a:prstGeom prst="roundRect">
            <a:avLst/>
          </a:prstGeom>
          <a:solidFill>
            <a:srgbClr val="EEF6F5"/>
          </a:solidFill>
          <a:ln>
            <a:solidFill>
              <a:srgbClr val="DB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91440" cy="1024128"/>
          </a:xfrm>
          <a:prstGeom prst="rect">
            <a:avLst/>
          </a:prstGeom>
          <a:solidFill>
            <a:srgbClr val="2B7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99032"/>
            <a:ext cx="301752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1">
                <a:solidFill>
                  <a:srgbClr val="183A4D"/>
                </a:solidFill>
              </a:defRPr>
            </a:pPr>
            <a:r>
              <a:t>Tiempo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37944"/>
            <a:ext cx="30175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50" b="0">
                <a:solidFill>
                  <a:srgbClr val="283237"/>
                </a:solidFill>
              </a:defRPr>
            </a:pPr>
            <a:r>
              <a:t>≥ 90% de actividades en el periodo programado.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234440"/>
            <a:ext cx="3474720" cy="1024128"/>
          </a:xfrm>
          <a:prstGeom prst="roundRect">
            <a:avLst/>
          </a:prstGeom>
          <a:solidFill>
            <a:srgbClr val="EEF6F5"/>
          </a:solidFill>
          <a:ln>
            <a:solidFill>
              <a:srgbClr val="DB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5112" y="1234440"/>
            <a:ext cx="91440" cy="1024128"/>
          </a:xfrm>
          <a:prstGeom prst="rect">
            <a:avLst/>
          </a:prstGeom>
          <a:solidFill>
            <a:srgbClr val="2B7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399032"/>
            <a:ext cx="301752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1">
                <a:solidFill>
                  <a:srgbClr val="183A4D"/>
                </a:solidFill>
              </a:defRPr>
            </a:pPr>
            <a:r>
              <a:t>Limpieza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1837944"/>
            <a:ext cx="30175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50" b="0">
                <a:solidFill>
                  <a:srgbClr val="283237"/>
                </a:solidFill>
              </a:defRPr>
            </a:pPr>
            <a:r>
              <a:t>Al menos 1 jornada comunitaria mensual.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47304" y="1234440"/>
            <a:ext cx="3474720" cy="1024128"/>
          </a:xfrm>
          <a:prstGeom prst="roundRect">
            <a:avLst/>
          </a:prstGeom>
          <a:solidFill>
            <a:srgbClr val="EEF6F5"/>
          </a:solidFill>
          <a:ln>
            <a:solidFill>
              <a:srgbClr val="DB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47304" y="1234440"/>
            <a:ext cx="91440" cy="1024128"/>
          </a:xfrm>
          <a:prstGeom prst="rect">
            <a:avLst/>
          </a:prstGeom>
          <a:solidFill>
            <a:srgbClr val="2B7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399032"/>
            <a:ext cx="301752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1">
                <a:solidFill>
                  <a:srgbClr val="183A4D"/>
                </a:solidFill>
              </a:defRPr>
            </a:pPr>
            <a:r>
              <a:t>Participación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1837944"/>
            <a:ext cx="30175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50" b="0">
                <a:solidFill>
                  <a:srgbClr val="283237"/>
                </a:solidFill>
              </a:defRPr>
            </a:pPr>
            <a:r>
              <a:t>Mantener o aumentar vecinos y voluntarios.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496312"/>
            <a:ext cx="3474720" cy="1024128"/>
          </a:xfrm>
          <a:prstGeom prst="roundRect">
            <a:avLst/>
          </a:prstGeom>
          <a:solidFill>
            <a:srgbClr val="EEF6F5"/>
          </a:solidFill>
          <a:ln>
            <a:solidFill>
              <a:srgbClr val="DB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2496312"/>
            <a:ext cx="91440" cy="1024128"/>
          </a:xfrm>
          <a:prstGeom prst="rect">
            <a:avLst/>
          </a:prstGeom>
          <a:solidFill>
            <a:srgbClr val="2B7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660904"/>
            <a:ext cx="301752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1">
                <a:solidFill>
                  <a:srgbClr val="183A4D"/>
                </a:solidFill>
              </a:defRPr>
            </a:pPr>
            <a:r>
              <a:t>Puntos críticos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099816"/>
            <a:ext cx="30175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50" b="0">
                <a:solidFill>
                  <a:srgbClr val="283237"/>
                </a:solidFill>
              </a:defRPr>
            </a:pPr>
            <a:r>
              <a:t>Registrar e intervenir sitios prioritarios.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5112" y="2496312"/>
            <a:ext cx="3474720" cy="1024128"/>
          </a:xfrm>
          <a:prstGeom prst="roundRect">
            <a:avLst/>
          </a:prstGeom>
          <a:solidFill>
            <a:srgbClr val="EEF6F5"/>
          </a:solidFill>
          <a:ln>
            <a:solidFill>
              <a:srgbClr val="DB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25112" y="2496312"/>
            <a:ext cx="91440" cy="1024128"/>
          </a:xfrm>
          <a:prstGeom prst="rect">
            <a:avLst/>
          </a:prstGeom>
          <a:solidFill>
            <a:srgbClr val="2B7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53712" y="2660904"/>
            <a:ext cx="301752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1">
                <a:solidFill>
                  <a:srgbClr val="183A4D"/>
                </a:solidFill>
              </a:defRPr>
            </a:pPr>
            <a:r>
              <a:t>Residuos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3099816"/>
            <a:ext cx="30175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50" b="0">
                <a:solidFill>
                  <a:srgbClr val="283237"/>
                </a:solidFill>
              </a:defRPr>
            </a:pPr>
            <a:r>
              <a:t>Disminución progresiva en zonas intervenidas.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47304" y="2496312"/>
            <a:ext cx="3474720" cy="1024128"/>
          </a:xfrm>
          <a:prstGeom prst="roundRect">
            <a:avLst/>
          </a:prstGeom>
          <a:solidFill>
            <a:srgbClr val="EEF6F5"/>
          </a:solidFill>
          <a:ln>
            <a:solidFill>
              <a:srgbClr val="DB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47304" y="2496312"/>
            <a:ext cx="91440" cy="1024128"/>
          </a:xfrm>
          <a:prstGeom prst="rect">
            <a:avLst/>
          </a:prstGeom>
          <a:solidFill>
            <a:srgbClr val="2B7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5904" y="2660904"/>
            <a:ext cx="301752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1">
                <a:solidFill>
                  <a:srgbClr val="183A4D"/>
                </a:solidFill>
              </a:defRPr>
            </a:pPr>
            <a:r>
              <a:t>Separación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5904" y="3099816"/>
            <a:ext cx="30175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50" b="0">
                <a:solidFill>
                  <a:srgbClr val="283237"/>
                </a:solidFill>
              </a:defRPr>
            </a:pPr>
            <a:r>
              <a:t>Clasificar reciclables y no reciclables.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758183"/>
            <a:ext cx="3474720" cy="1024128"/>
          </a:xfrm>
          <a:prstGeom prst="roundRect">
            <a:avLst/>
          </a:prstGeom>
          <a:solidFill>
            <a:srgbClr val="EEF6F5"/>
          </a:solidFill>
          <a:ln>
            <a:solidFill>
              <a:srgbClr val="DB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3758183"/>
            <a:ext cx="91440" cy="1024128"/>
          </a:xfrm>
          <a:prstGeom prst="rect">
            <a:avLst/>
          </a:prstGeom>
          <a:solidFill>
            <a:srgbClr val="2B7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3922775"/>
            <a:ext cx="301752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1">
                <a:solidFill>
                  <a:srgbClr val="183A4D"/>
                </a:solidFill>
              </a:defRPr>
            </a:pPr>
            <a:r>
              <a:t>Educación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361688"/>
            <a:ext cx="30175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50" b="0">
                <a:solidFill>
                  <a:srgbClr val="283237"/>
                </a:solidFill>
              </a:defRPr>
            </a:pPr>
            <a:r>
              <a:t>Cumplir actividades de sensibilización programadas.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25112" y="3758183"/>
            <a:ext cx="3474720" cy="1024128"/>
          </a:xfrm>
          <a:prstGeom prst="roundRect">
            <a:avLst/>
          </a:prstGeom>
          <a:solidFill>
            <a:srgbClr val="EEF6F5"/>
          </a:solidFill>
          <a:ln>
            <a:solidFill>
              <a:srgbClr val="DB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25112" y="3758183"/>
            <a:ext cx="91440" cy="1024128"/>
          </a:xfrm>
          <a:prstGeom prst="rect">
            <a:avLst/>
          </a:prstGeom>
          <a:solidFill>
            <a:srgbClr val="2B7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53712" y="3922775"/>
            <a:ext cx="301752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1">
                <a:solidFill>
                  <a:srgbClr val="183A4D"/>
                </a:solidFill>
              </a:defRPr>
            </a:pPr>
            <a:r>
              <a:t>Reportes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53712" y="4361688"/>
            <a:ext cx="30175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50" b="0">
                <a:solidFill>
                  <a:srgbClr val="283237"/>
                </a:solidFill>
              </a:defRPr>
            </a:pPr>
            <a:r>
              <a:t>Registrar y dar seguimiento a incidencias.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47304" y="3758183"/>
            <a:ext cx="3474720" cy="1024128"/>
          </a:xfrm>
          <a:prstGeom prst="roundRect">
            <a:avLst/>
          </a:prstGeom>
          <a:solidFill>
            <a:srgbClr val="EEF6F5"/>
          </a:solidFill>
          <a:ln>
            <a:solidFill>
              <a:srgbClr val="DB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47304" y="3758183"/>
            <a:ext cx="91440" cy="1024128"/>
          </a:xfrm>
          <a:prstGeom prst="rect">
            <a:avLst/>
          </a:prstGeom>
          <a:solidFill>
            <a:srgbClr val="2B7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75904" y="3922775"/>
            <a:ext cx="301752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1">
                <a:solidFill>
                  <a:srgbClr val="183A4D"/>
                </a:solidFill>
              </a:defRPr>
            </a:pPr>
            <a:r>
              <a:t>Recursos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75904" y="4361688"/>
            <a:ext cx="30175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50" b="0">
                <a:solidFill>
                  <a:srgbClr val="283237"/>
                </a:solidFill>
              </a:defRPr>
            </a:pPr>
            <a:r>
              <a:t>Contar con materiales y EPP antes de cada jornada.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5020056"/>
            <a:ext cx="3474720" cy="1024128"/>
          </a:xfrm>
          <a:prstGeom prst="roundRect">
            <a:avLst/>
          </a:prstGeom>
          <a:solidFill>
            <a:srgbClr val="EEF6F5"/>
          </a:solidFill>
          <a:ln>
            <a:solidFill>
              <a:srgbClr val="DB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2920" y="5020056"/>
            <a:ext cx="91440" cy="1024128"/>
          </a:xfrm>
          <a:prstGeom prst="rect">
            <a:avLst/>
          </a:prstGeom>
          <a:solidFill>
            <a:srgbClr val="2B7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184648"/>
            <a:ext cx="301752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1">
                <a:solidFill>
                  <a:srgbClr val="183A4D"/>
                </a:solidFill>
              </a:defRPr>
            </a:pPr>
            <a:r>
              <a:t>Finanzas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5623560"/>
            <a:ext cx="30175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50" b="0">
                <a:solidFill>
                  <a:srgbClr val="283237"/>
                </a:solidFill>
              </a:defRPr>
            </a:pPr>
            <a:r>
              <a:t>Controlar y documentar los gastos principales.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25112" y="5020056"/>
            <a:ext cx="3474720" cy="1024128"/>
          </a:xfrm>
          <a:prstGeom prst="roundRect">
            <a:avLst/>
          </a:prstGeom>
          <a:solidFill>
            <a:srgbClr val="EEF6F5"/>
          </a:solidFill>
          <a:ln>
            <a:solidFill>
              <a:srgbClr val="DB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25112" y="5020056"/>
            <a:ext cx="91440" cy="1024128"/>
          </a:xfrm>
          <a:prstGeom prst="rect">
            <a:avLst/>
          </a:prstGeom>
          <a:solidFill>
            <a:srgbClr val="2B7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53712" y="5184648"/>
            <a:ext cx="301752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1">
                <a:solidFill>
                  <a:srgbClr val="183A4D"/>
                </a:solidFill>
              </a:defRPr>
            </a:pPr>
            <a:r>
              <a:t>Evidencia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53712" y="5623560"/>
            <a:ext cx="30175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50" b="0">
                <a:solidFill>
                  <a:srgbClr val="283237"/>
                </a:solidFill>
              </a:defRPr>
            </a:pPr>
            <a:r>
              <a:t>Fotos, listas, registros y formatos completos.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47304" y="5020056"/>
            <a:ext cx="3474720" cy="1024128"/>
          </a:xfrm>
          <a:prstGeom prst="roundRect">
            <a:avLst/>
          </a:prstGeom>
          <a:solidFill>
            <a:srgbClr val="EEF6F5"/>
          </a:solidFill>
          <a:ln>
            <a:solidFill>
              <a:srgbClr val="DB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147304" y="5020056"/>
            <a:ext cx="91440" cy="1024128"/>
          </a:xfrm>
          <a:prstGeom prst="rect">
            <a:avLst/>
          </a:prstGeom>
          <a:solidFill>
            <a:srgbClr val="2B7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75904" y="5184648"/>
            <a:ext cx="3017520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1">
                <a:solidFill>
                  <a:srgbClr val="183A4D"/>
                </a:solidFill>
              </a:defRPr>
            </a:pPr>
            <a:r>
              <a:t>Evaluación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75904" y="5623560"/>
            <a:ext cx="30175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50" b="0">
                <a:solidFill>
                  <a:srgbClr val="283237"/>
                </a:solidFill>
              </a:defRPr>
            </a:pPr>
            <a:r>
              <a:t>Revisar indicadores y definir acciones de mejora.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6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274320"/>
            <a:ext cx="2743200" cy="1188720"/>
          </a:xfrm>
          <a:prstGeom prst="ellipse">
            <a:avLst/>
          </a:prstGeom>
          <a:solidFill>
            <a:srgbClr val="DB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5943600"/>
            <a:ext cx="2011680" cy="1005840"/>
          </a:xfrm>
          <a:prstGeom prst="ellipse">
            <a:avLst/>
          </a:prstGeom>
          <a:solidFill>
            <a:srgbClr val="EE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A4D"/>
                </a:solidFill>
              </a:defRPr>
            </a:pPr>
            <a:r>
              <a:t>¿Qué tipo de estándares necesito?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3"/>
                </a:solidFill>
              </a:defRPr>
            </a:pPr>
            <a:r>
              <a:t>La medición debe combinar diferentes dimensiones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2560320" cy="1828800"/>
          </a:xfrm>
          <a:prstGeom prst="roundRect">
            <a:avLst/>
          </a:prstGeom>
          <a:solidFill>
            <a:srgbClr val="EEF6F5"/>
          </a:solidFill>
          <a:ln>
            <a:solidFill>
              <a:srgbClr val="DB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91440" cy="1828800"/>
          </a:xfrm>
          <a:prstGeom prst="rect">
            <a:avLst/>
          </a:prstGeom>
          <a:solidFill>
            <a:srgbClr val="2B7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581912"/>
            <a:ext cx="50292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200" b="1">
                <a:solidFill>
                  <a:srgbClr val="2B7A9D"/>
                </a:solidFill>
              </a:defRPr>
            </a:pPr>
            <a:r>
              <a:t>#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581912"/>
            <a:ext cx="1645919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1">
                <a:solidFill>
                  <a:srgbClr val="183A4D"/>
                </a:solidFill>
              </a:defRPr>
            </a:pPr>
            <a:r>
              <a:t>Cantidad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20824"/>
            <a:ext cx="2103120" cy="10789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50" b="0">
                <a:solidFill>
                  <a:srgbClr val="283237"/>
                </a:solidFill>
              </a:defRPr>
            </a:pPr>
            <a:r>
              <a:t>Participantes, jornadas, puntos atendidos y residuos recolectados.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417320"/>
            <a:ext cx="2560320" cy="1828800"/>
          </a:xfrm>
          <a:prstGeom prst="roundRect">
            <a:avLst/>
          </a:prstGeom>
          <a:solidFill>
            <a:srgbClr val="EEF6F5"/>
          </a:solidFill>
          <a:ln>
            <a:solidFill>
              <a:srgbClr val="DB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417320"/>
            <a:ext cx="91440" cy="1828800"/>
          </a:xfrm>
          <a:prstGeom prst="rect">
            <a:avLst/>
          </a:prstGeom>
          <a:solidFill>
            <a:srgbClr val="36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0168" y="1581912"/>
            <a:ext cx="50292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200" b="1">
                <a:solidFill>
                  <a:srgbClr val="369997"/>
                </a:solidFill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42232" y="1581912"/>
            <a:ext cx="1645919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1">
                <a:solidFill>
                  <a:srgbClr val="183A4D"/>
                </a:solidFill>
              </a:defRPr>
            </a:pPr>
            <a:r>
              <a:t>Calidad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020824"/>
            <a:ext cx="2103120" cy="10789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50" b="0">
                <a:solidFill>
                  <a:srgbClr val="283237"/>
                </a:solidFill>
              </a:defRPr>
            </a:pPr>
            <a:r>
              <a:t>Condición de las zonas intervenidas y calidad de los registros.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417320"/>
            <a:ext cx="2560320" cy="1828800"/>
          </a:xfrm>
          <a:prstGeom prst="roundRect">
            <a:avLst/>
          </a:prstGeom>
          <a:solidFill>
            <a:srgbClr val="EEF6F5"/>
          </a:solidFill>
          <a:ln>
            <a:solidFill>
              <a:srgbClr val="DB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1417320"/>
            <a:ext cx="91440" cy="1828800"/>
          </a:xfrm>
          <a:prstGeom prst="rect">
            <a:avLst/>
          </a:prstGeom>
          <a:solidFill>
            <a:srgbClr val="EF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1581912"/>
            <a:ext cx="50292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200" b="1">
                <a:solidFill>
                  <a:srgbClr val="EFB944"/>
                </a:solidFill>
              </a:defRPr>
            </a:pPr>
            <a:r>
              <a:t>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85432" y="1581912"/>
            <a:ext cx="1645919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1">
                <a:solidFill>
                  <a:srgbClr val="183A4D"/>
                </a:solidFill>
              </a:defRPr>
            </a:pPr>
            <a:r>
              <a:t>Tiempo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020824"/>
            <a:ext cx="2103120" cy="10789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50" b="0">
                <a:solidFill>
                  <a:srgbClr val="283237"/>
                </a:solidFill>
              </a:defRPr>
            </a:pPr>
            <a:r>
              <a:t>Cumplimiento de fechas, duración y recuperación de retrasos.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15400" y="1417320"/>
            <a:ext cx="2560320" cy="1828800"/>
          </a:xfrm>
          <a:prstGeom prst="roundRect">
            <a:avLst/>
          </a:prstGeom>
          <a:solidFill>
            <a:srgbClr val="EEF6F5"/>
          </a:solidFill>
          <a:ln>
            <a:solidFill>
              <a:srgbClr val="DB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15400" y="1417320"/>
            <a:ext cx="91440" cy="1828800"/>
          </a:xfrm>
          <a:prstGeom prst="rect">
            <a:avLst/>
          </a:prstGeom>
          <a:solidFill>
            <a:srgbClr val="5F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16568" y="1581912"/>
            <a:ext cx="50292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200" b="1">
                <a:solidFill>
                  <a:srgbClr val="5F9B5C"/>
                </a:solidFill>
              </a:defRPr>
            </a:pPr>
            <a:r>
              <a:t>$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28632" y="1581912"/>
            <a:ext cx="1645919" cy="3474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500" b="1">
                <a:solidFill>
                  <a:srgbClr val="183A4D"/>
                </a:solidFill>
              </a:defRPr>
            </a:pPr>
            <a:r>
              <a:t>Finanzas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020824"/>
            <a:ext cx="2103120" cy="10789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250" b="0">
                <a:solidFill>
                  <a:srgbClr val="283237"/>
                </a:solidFill>
              </a:defRPr>
            </a:pPr>
            <a:r>
              <a:t>Uso y control de recursos para materiales, transporte e impresión.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069080"/>
            <a:ext cx="105156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183A4D"/>
                </a:solidFill>
              </a:defRPr>
            </a:pPr>
            <a:r>
              <a:t>¿Por qué combinar estos estándares?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617720"/>
            <a:ext cx="9875520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700" b="0">
                <a:solidFill>
                  <a:srgbClr val="283237"/>
                </a:solidFill>
              </a:defRPr>
            </a:pPr>
            <a:r>
              <a:t>Porque el éxito del proyecto no depende de un solo resultado: debe cumplir actividades, utilizar adecuadamente los recursos y generar una mejora progresiva y comprobable en el entorno.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6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274320"/>
            <a:ext cx="2743200" cy="1188720"/>
          </a:xfrm>
          <a:prstGeom prst="ellipse">
            <a:avLst/>
          </a:prstGeom>
          <a:solidFill>
            <a:srgbClr val="DB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5943600"/>
            <a:ext cx="2011680" cy="1005840"/>
          </a:xfrm>
          <a:prstGeom prst="ellipse">
            <a:avLst/>
          </a:prstGeom>
          <a:solidFill>
            <a:srgbClr val="EE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A4D"/>
                </a:solidFill>
              </a:defRPr>
            </a:pPr>
            <a:r>
              <a:t>Conclusión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3"/>
                </a:solidFill>
              </a:defRPr>
            </a:pPr>
            <a:r>
              <a:t>Controlar no significa esperar al final: significa medir, comparar y mejorar</a:t>
            </a:r>
          </a:p>
        </p:txBody>
      </p:sp>
      <p:sp>
        <p:nvSpPr>
          <p:cNvPr id="7" name="Oval 6"/>
          <p:cNvSpPr/>
          <p:nvPr/>
        </p:nvSpPr>
        <p:spPr>
          <a:xfrm>
            <a:off x="1005840" y="1828800"/>
            <a:ext cx="1508760" cy="1508760"/>
          </a:xfrm>
          <a:prstGeom prst="ellipse">
            <a:avLst/>
          </a:prstGeom>
          <a:solidFill>
            <a:srgbClr val="2B7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359152"/>
            <a:ext cx="13716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PLANEAR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1325880"/>
            <a:ext cx="1508760" cy="1508760"/>
          </a:xfrm>
          <a:prstGeom prst="ellipse">
            <a:avLst/>
          </a:prstGeom>
          <a:solidFill>
            <a:srgbClr val="36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30752" y="1856231"/>
            <a:ext cx="13716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ACTUAR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0" y="1325880"/>
            <a:ext cx="1508760" cy="1508760"/>
          </a:xfrm>
          <a:prstGeom prst="ellipse">
            <a:avLst/>
          </a:prstGeom>
          <a:solidFill>
            <a:srgbClr val="5F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56832" y="1856231"/>
            <a:ext cx="13716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MEDIR</a:t>
            </a:r>
          </a:p>
        </p:txBody>
      </p:sp>
      <p:sp>
        <p:nvSpPr>
          <p:cNvPr id="13" name="Oval 12"/>
          <p:cNvSpPr/>
          <p:nvPr/>
        </p:nvSpPr>
        <p:spPr>
          <a:xfrm>
            <a:off x="9235440" y="1828800"/>
            <a:ext cx="1508760" cy="1508760"/>
          </a:xfrm>
          <a:prstGeom prst="ellipse">
            <a:avLst/>
          </a:prstGeom>
          <a:solidFill>
            <a:srgbClr val="EF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08592" y="2359152"/>
            <a:ext cx="13716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MEJORAR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10241280" cy="1188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0">
                <a:solidFill>
                  <a:srgbClr val="283237"/>
                </a:solidFill>
              </a:defRPr>
            </a:pPr>
            <a:r>
              <a:t>El seguimiento mediante estándares permitirá identificar oportunamente desviaciones, mantener las acciones que funcionan y aplicar soluciones cuando sea necesario. Así, el proyecto puede avanzar de forma organizada, medible y sostenible.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715000"/>
            <a:ext cx="1024128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200" b="0">
                <a:solidFill>
                  <a:srgbClr val="646E73"/>
                </a:solidFill>
              </a:defRPr>
            </a:pPr>
            <a:r>
              <a:t>Proyecto Río Hondo · El Molinito · Naucalpan, Estado de México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